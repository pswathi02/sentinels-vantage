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1234440"/>
            <a:ext cx="685800" cy="685800"/>
          </a:xfrm>
          <a:prstGeom prst="roundRect">
            <a:avLst>
              <a:gd name="adj" fmla="val 6000"/>
            </a:avLst>
          </a:prstGeom>
          <a:solidFill>
            <a:srgbClr val="4F9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68580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200" b="1" i="0">
                <a:solidFill>
                  <a:srgbClr val="FFFFFF"/>
                </a:solidFill>
                <a:latin typeface="Arial"/>
              </a:rPr>
              <a:t>V</a:t>
            </a:r>
          </a:p>
        </p:txBody>
      </p:sp>
      <p:sp>
        <p:nvSpPr>
          <p:cNvPr id="5" name="Oval 4"/>
          <p:cNvSpPr/>
          <p:nvPr/>
        </p:nvSpPr>
        <p:spPr>
          <a:xfrm>
            <a:off x="1600200" y="1362456"/>
            <a:ext cx="91440" cy="91440"/>
          </a:xfrm>
          <a:prstGeom prst="ellipse">
            <a:avLst/>
          </a:prstGeom>
          <a:solidFill>
            <a:srgbClr val="4F9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01368" y="128016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4F9DFF"/>
                </a:solidFill>
                <a:latin typeface="Arial"/>
              </a:rPr>
              <a:t>TEAM SENTINELS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01368" y="157276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6B7A93"/>
                </a:solidFill>
                <a:latin typeface="Arial"/>
              </a:rPr>
              <a:t>Web Data Unlocked Hackathon · lablab.ai × Bright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2402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6600" b="1" i="0">
                <a:solidFill>
                  <a:srgbClr val="E8EDF6"/>
                </a:solidFill>
                <a:latin typeface="Arial"/>
              </a:rPr>
              <a:t>Vantage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3520440"/>
            <a:ext cx="93268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2100" b="1" i="0">
                <a:solidFill>
                  <a:srgbClr val="E8EDF6"/>
                </a:solidFill>
                <a:latin typeface="Arial"/>
              </a:rPr>
              <a:t>Time-travel for the open web. </a:t>
            </a:r>
            <a:r>
              <a:rPr sz="2100" b="0" i="0">
                <a:solidFill>
                  <a:srgbClr val="9FB0C8"/>
                </a:solidFill>
                <a:latin typeface="Arial"/>
              </a:rPr>
              <a:t>Type a company domain and watch its story — exec exits, layoffs, lawsuits, sentiment, pricing — rebuild itself on a draggable timeline. Every claim cited to its real source.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5166360"/>
            <a:ext cx="3833164" cy="457200"/>
          </a:xfrm>
          <a:prstGeom prst="roundRect">
            <a:avLst>
              <a:gd name="adj" fmla="val 6000"/>
            </a:avLst>
          </a:prstGeom>
          <a:solidFill>
            <a:srgbClr val="121722"/>
          </a:solidFill>
          <a:ln w="12700">
            <a:solidFill>
              <a:srgbClr val="2A35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5166360"/>
            <a:ext cx="383316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9FB0C8"/>
                </a:solidFill>
                <a:latin typeface="Arial"/>
              </a:rPr>
              <a:t>🏁 Track 2 · Finance &amp; Market Intelligence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83556" y="5166360"/>
            <a:ext cx="2739542" cy="457200"/>
          </a:xfrm>
          <a:prstGeom prst="roundRect">
            <a:avLst>
              <a:gd name="adj" fmla="val 6000"/>
            </a:avLst>
          </a:prstGeom>
          <a:solidFill>
            <a:srgbClr val="121722"/>
          </a:solidFill>
          <a:ln w="12700">
            <a:solidFill>
              <a:srgbClr val="2A35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83556" y="5166360"/>
            <a:ext cx="273954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9FB0C8"/>
                </a:solidFill>
                <a:latin typeface="Arial"/>
              </a:rPr>
              <a:t>🌐 Powered by Bright Data MCP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87691" y="5166360"/>
            <a:ext cx="2234793" cy="457200"/>
          </a:xfrm>
          <a:prstGeom prst="roundRect">
            <a:avLst>
              <a:gd name="adj" fmla="val 6000"/>
            </a:avLst>
          </a:prstGeom>
          <a:solidFill>
            <a:srgbClr val="121722"/>
          </a:solidFill>
          <a:ln w="12700">
            <a:solidFill>
              <a:srgbClr val="2A35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87691" y="5166360"/>
            <a:ext cx="2234793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9FB0C8"/>
                </a:solidFill>
                <a:latin typeface="Arial"/>
              </a:rPr>
              <a:t>🧠 Extraction by Claude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987076" y="5166360"/>
            <a:ext cx="2571292" cy="457200"/>
          </a:xfrm>
          <a:prstGeom prst="roundRect">
            <a:avLst>
              <a:gd name="adj" fmla="val 6000"/>
            </a:avLst>
          </a:prstGeom>
          <a:solidFill>
            <a:srgbClr val="121722"/>
          </a:solidFill>
          <a:ln w="12700">
            <a:solidFill>
              <a:srgbClr val="2A35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987076" y="5166360"/>
            <a:ext cx="257129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9FB0C8"/>
                </a:solidFill>
                <a:latin typeface="Arial"/>
              </a:rPr>
              <a:t>⏱️ Ingest → render in ≤10s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9FB0C8"/>
                </a:solidFill>
                <a:latin typeface="Arial"/>
              </a:rPr>
              <a:t>VANTAGE</a:t>
            </a:r>
            <a:r>
              <a:rPr sz="1000" b="0" i="0">
                <a:solidFill>
                  <a:srgbClr val="6B7A93"/>
                </a:solidFill>
                <a:latin typeface="Arial"/>
              </a:rPr>
              <a:t>  ·  Team Sentinels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41280" y="644652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6B7A93"/>
                </a:solidFill>
                <a:latin typeface="Arial"/>
              </a:rPr>
              <a:t>01 / 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48640" y="539496"/>
            <a:ext cx="91440" cy="91440"/>
          </a:xfrm>
          <a:prstGeom prst="ellipse">
            <a:avLst/>
          </a:prstGeom>
          <a:solidFill>
            <a:srgbClr val="4F9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572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4F9DFF"/>
                </a:solidFill>
                <a:latin typeface="Arial"/>
              </a:rP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7724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200" b="1" i="0">
                <a:solidFill>
                  <a:srgbClr val="E8EDF6"/>
                </a:solidFill>
                <a:latin typeface="Arial"/>
              </a:rPr>
              <a:t>Preliminary diligence is a 40-hour manual slog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41732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9FB0C8"/>
                </a:solidFill>
                <a:latin typeface="Arial"/>
              </a:rPr>
              <a:t>Analysts hand-pull LinkedIn, Glassdoor, news, filings, pricing &amp; lawsuits — then it's stale by the time the memo ships.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240280"/>
            <a:ext cx="3383280" cy="1417320"/>
          </a:xfrm>
          <a:prstGeom prst="roundRect">
            <a:avLst>
              <a:gd name="adj" fmla="val 6000"/>
            </a:avLst>
          </a:prstGeom>
          <a:solidFill>
            <a:srgbClr val="161C29"/>
          </a:solidFill>
          <a:ln w="12700">
            <a:solidFill>
              <a:srgbClr val="2A35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2423160"/>
            <a:ext cx="29260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1" i="0">
                <a:solidFill>
                  <a:srgbClr val="F06C6C"/>
                </a:solidFill>
                <a:latin typeface="Arial"/>
              </a:rPr>
              <a:t>40+ hrs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3035808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9FB0C8"/>
                </a:solidFill>
                <a:latin typeface="Arial"/>
              </a:rPr>
              <a:t>per target, per analyst, on grunt research before any real analysis begins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07408" y="2240280"/>
            <a:ext cx="3383280" cy="1417320"/>
          </a:xfrm>
          <a:prstGeom prst="roundRect">
            <a:avLst>
              <a:gd name="adj" fmla="val 6000"/>
            </a:avLst>
          </a:prstGeom>
          <a:solidFill>
            <a:srgbClr val="161C29"/>
          </a:solidFill>
          <a:ln w="12700">
            <a:solidFill>
              <a:srgbClr val="2A35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2423160"/>
            <a:ext cx="29260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1" i="0">
                <a:solidFill>
                  <a:srgbClr val="F06C6C"/>
                </a:solidFill>
                <a:latin typeface="Arial"/>
              </a:rPr>
              <a:t>$$$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3035808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9FB0C8"/>
                </a:solidFill>
                <a:latin typeface="Arial"/>
              </a:rPr>
              <a:t>associate hours billed at PE / IB rates — multiplied across every deal in the pipeline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66175" y="2240280"/>
            <a:ext cx="3383280" cy="1417320"/>
          </a:xfrm>
          <a:prstGeom prst="roundRect">
            <a:avLst>
              <a:gd name="adj" fmla="val 6000"/>
            </a:avLst>
          </a:prstGeom>
          <a:solidFill>
            <a:srgbClr val="161C29"/>
          </a:solidFill>
          <a:ln w="12700">
            <a:solidFill>
              <a:srgbClr val="2A35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22207" y="2423160"/>
            <a:ext cx="29260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1" i="0">
                <a:solidFill>
                  <a:srgbClr val="F7B955"/>
                </a:solidFill>
                <a:latin typeface="Arial"/>
              </a:rPr>
              <a:t>Static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22207" y="3035808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9FB0C8"/>
                </a:solidFill>
                <a:latin typeface="Arial"/>
              </a:rPr>
              <a:t>snapshots only — you see today, never the trajectory that predicts tomorrow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886200"/>
            <a:ext cx="11091672" cy="2240280"/>
          </a:xfrm>
          <a:prstGeom prst="roundRect">
            <a:avLst>
              <a:gd name="adj" fmla="val 6000"/>
            </a:avLst>
          </a:prstGeom>
          <a:solidFill>
            <a:srgbClr val="161C29"/>
          </a:solidFill>
          <a:ln w="12700">
            <a:solidFill>
              <a:srgbClr val="2A35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40690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E8EDF6"/>
                </a:solidFill>
                <a:latin typeface="Arial"/>
              </a:rPr>
              <a:t>👥  Who feels this pain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4572000"/>
            <a:ext cx="1613916" cy="420624"/>
          </a:xfrm>
          <a:prstGeom prst="roundRect">
            <a:avLst>
              <a:gd name="adj" fmla="val 6000"/>
            </a:avLst>
          </a:prstGeom>
          <a:solidFill>
            <a:srgbClr val="121722"/>
          </a:solidFill>
          <a:ln w="12700">
            <a:solidFill>
              <a:srgbClr val="2A35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4572000"/>
            <a:ext cx="1613916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9FB0C8"/>
                </a:solidFill>
                <a:latin typeface="Arial"/>
              </a:rPr>
              <a:t>PE associates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583180" y="4572000"/>
            <a:ext cx="1421892" cy="420624"/>
          </a:xfrm>
          <a:prstGeom prst="roundRect">
            <a:avLst>
              <a:gd name="adj" fmla="val 6000"/>
            </a:avLst>
          </a:prstGeom>
          <a:solidFill>
            <a:srgbClr val="121722"/>
          </a:solidFill>
          <a:ln w="12700">
            <a:solidFill>
              <a:srgbClr val="2A35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83180" y="4572000"/>
            <a:ext cx="142189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9FB0C8"/>
                </a:solidFill>
                <a:latin typeface="Arial"/>
              </a:rPr>
              <a:t>IB analysts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151376" y="4572000"/>
            <a:ext cx="2478024" cy="420624"/>
          </a:xfrm>
          <a:prstGeom prst="roundRect">
            <a:avLst>
              <a:gd name="adj" fmla="val 6000"/>
            </a:avLst>
          </a:prstGeom>
          <a:solidFill>
            <a:srgbClr val="121722"/>
          </a:solidFill>
          <a:ln w="12700">
            <a:solidFill>
              <a:srgbClr val="2A35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51376" y="4572000"/>
            <a:ext cx="24780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9FB0C8"/>
                </a:solidFill>
                <a:latin typeface="Arial"/>
              </a:rPr>
              <a:t>Hedge-fund researchers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775704" y="4572000"/>
            <a:ext cx="2286000" cy="420624"/>
          </a:xfrm>
          <a:prstGeom prst="roundRect">
            <a:avLst>
              <a:gd name="adj" fmla="val 6000"/>
            </a:avLst>
          </a:prstGeom>
          <a:solidFill>
            <a:srgbClr val="121722"/>
          </a:solidFill>
          <a:ln w="12700">
            <a:solidFill>
              <a:srgbClr val="2A35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75704" y="4572000"/>
            <a:ext cx="228600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9FB0C8"/>
                </a:solidFill>
                <a:latin typeface="Arial"/>
              </a:rPr>
              <a:t>Corp-dev / M&amp;A teams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208008" y="4572000"/>
            <a:ext cx="1229868" cy="420624"/>
          </a:xfrm>
          <a:prstGeom prst="roundRect">
            <a:avLst>
              <a:gd name="adj" fmla="val 6000"/>
            </a:avLst>
          </a:prstGeom>
          <a:solidFill>
            <a:srgbClr val="121722"/>
          </a:solidFill>
          <a:ln w="12700">
            <a:solidFill>
              <a:srgbClr val="2A35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208008" y="4572000"/>
            <a:ext cx="1229868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9FB0C8"/>
                </a:solidFill>
                <a:latin typeface="Arial"/>
              </a:rPr>
              <a:t>VC scouts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584180" y="4572000"/>
            <a:ext cx="2189988" cy="420624"/>
          </a:xfrm>
          <a:prstGeom prst="roundRect">
            <a:avLst>
              <a:gd name="adj" fmla="val 6000"/>
            </a:avLst>
          </a:prstGeom>
          <a:solidFill>
            <a:srgbClr val="121722"/>
          </a:solidFill>
          <a:ln w="12700">
            <a:solidFill>
              <a:srgbClr val="2A35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584180" y="4572000"/>
            <a:ext cx="2189988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9FB0C8"/>
                </a:solidFill>
                <a:latin typeface="Arial"/>
              </a:rPr>
              <a:t>Credit &amp; risk desks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" y="521208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E8EDF6"/>
                </a:solidFill>
                <a:latin typeface="Arial"/>
              </a:rPr>
              <a:t>Vantage saves the time and the spend: </a:t>
            </a:r>
            <a:r>
              <a:rPr sz="1450" b="0" i="0">
                <a:solidFill>
                  <a:srgbClr val="9FB0C8"/>
                </a:solidFill>
                <a:latin typeface="Arial"/>
              </a:rPr>
              <a:t>it compresses that 40-hour pull into a ~10-second, fully-cited, time-aware briefing — so the human spends their hours on judgment, not on copy-paste.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9FB0C8"/>
                </a:solidFill>
                <a:latin typeface="Arial"/>
              </a:rPr>
              <a:t>VANTAGE</a:t>
            </a:r>
            <a:r>
              <a:rPr sz="1000" b="0" i="0">
                <a:solidFill>
                  <a:srgbClr val="6B7A93"/>
                </a:solidFill>
                <a:latin typeface="Arial"/>
              </a:rPr>
              <a:t>  ·  Team Sentinels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241280" y="644652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6B7A93"/>
                </a:solidFill>
                <a:latin typeface="Arial"/>
              </a:rPr>
              <a:t>02 / 06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48640" y="539496"/>
            <a:ext cx="91440" cy="91440"/>
          </a:xfrm>
          <a:prstGeom prst="ellipse">
            <a:avLst/>
          </a:prstGeom>
          <a:solidFill>
            <a:srgbClr val="4F9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572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4F9DFF"/>
                </a:solidFill>
                <a:latin typeface="Arial"/>
              </a:rPr>
              <a:t>THE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7724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200" b="1" i="0">
                <a:solidFill>
                  <a:srgbClr val="E8EDF6"/>
                </a:solidFill>
                <a:latin typeface="Arial"/>
              </a:rPr>
              <a:t>A temporal knowledge graph of any company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783080"/>
            <a:ext cx="475488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300"/>
              </a:spcAft>
            </a:pPr>
            <a:r>
              <a:rPr sz="1500" b="1">
                <a:solidFill>
                  <a:srgbClr val="4F9DFF"/>
                </a:solidFill>
                <a:latin typeface="Arial"/>
              </a:rPr>
              <a:t>▸ </a:t>
            </a:r>
            <a:r>
              <a:rPr sz="1500" b="1">
                <a:solidFill>
                  <a:srgbClr val="E8EDF6"/>
                </a:solidFill>
                <a:latin typeface="Arial"/>
              </a:rPr>
              <a:t>Type a domain</a:t>
            </a:r>
            <a:r>
              <a:rPr sz="1500" b="0">
                <a:solidFill>
                  <a:srgbClr val="9FB0C8"/>
                </a:solidFill>
                <a:latin typeface="Arial"/>
              </a:rPr>
              <a:t> → multi-source ingest fires across the open web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300"/>
              </a:spcAft>
            </a:pPr>
            <a:r>
              <a:rPr sz="1500" b="1">
                <a:solidFill>
                  <a:srgbClr val="4F9DFF"/>
                </a:solidFill>
                <a:latin typeface="Arial"/>
              </a:rPr>
              <a:t>▸ </a:t>
            </a:r>
            <a:r>
              <a:rPr sz="1500" b="1">
                <a:solidFill>
                  <a:srgbClr val="E8EDF6"/>
                </a:solidFill>
                <a:latin typeface="Arial"/>
              </a:rPr>
              <a:t>Drag the time slider</a:t>
            </a:r>
            <a:r>
              <a:rPr sz="1500" b="0">
                <a:solidFill>
                  <a:srgbClr val="9FB0C8"/>
                </a:solidFill>
                <a:latin typeface="Arial"/>
              </a:rPr>
              <a:t> (30 / 90 / 180 days) and the graph mutates live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300"/>
              </a:spcAft>
            </a:pPr>
            <a:r>
              <a:rPr sz="1500" b="1">
                <a:solidFill>
                  <a:srgbClr val="4F9DFF"/>
                </a:solidFill>
                <a:latin typeface="Arial"/>
              </a:rPr>
              <a:t>▸ </a:t>
            </a:r>
            <a:r>
              <a:rPr sz="1500" b="1">
                <a:solidFill>
                  <a:srgbClr val="E8EDF6"/>
                </a:solidFill>
                <a:latin typeface="Arial"/>
              </a:rPr>
              <a:t>Hit play</a:t>
            </a:r>
            <a:r>
              <a:rPr sz="1500" b="0">
                <a:solidFill>
                  <a:srgbClr val="9FB0C8"/>
                </a:solidFill>
                <a:latin typeface="Arial"/>
              </a:rPr>
              <a:t> → watch a company's collapse or breakout unfold week-by-week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300"/>
              </a:spcAft>
            </a:pPr>
            <a:r>
              <a:rPr sz="1500" b="1">
                <a:solidFill>
                  <a:srgbClr val="4F9DFF"/>
                </a:solidFill>
                <a:latin typeface="Arial"/>
              </a:rPr>
              <a:t>▸ </a:t>
            </a:r>
            <a:r>
              <a:rPr sz="1500" b="1">
                <a:solidFill>
                  <a:srgbClr val="E8EDF6"/>
                </a:solidFill>
                <a:latin typeface="Arial"/>
              </a:rPr>
              <a:t>Every node &amp; fact is cited</a:t>
            </a:r>
            <a:r>
              <a:rPr sz="1500" b="0">
                <a:solidFill>
                  <a:srgbClr val="9FB0C8"/>
                </a:solidFill>
                <a:latin typeface="Arial"/>
              </a:rPr>
              <a:t> to the exact scraped article URL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300"/>
              </a:spcAft>
            </a:pPr>
            <a:r>
              <a:rPr sz="1500" b="1">
                <a:solidFill>
                  <a:srgbClr val="4F9DFF"/>
                </a:solidFill>
                <a:latin typeface="Arial"/>
              </a:rPr>
              <a:t>▸ </a:t>
            </a:r>
            <a:r>
              <a:rPr sz="1500" b="1">
                <a:solidFill>
                  <a:srgbClr val="E8EDF6"/>
                </a:solidFill>
                <a:latin typeface="Arial"/>
              </a:rPr>
              <a:t>Auto-memo</a:t>
            </a:r>
            <a:r>
              <a:rPr sz="1500" b="0">
                <a:solidFill>
                  <a:srgbClr val="9FB0C8"/>
                </a:solidFill>
                <a:latin typeface="Arial"/>
              </a:rPr>
              <a:t> with risk narrative + IC questions, export to PDF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5257800"/>
            <a:ext cx="4754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1">
                <a:solidFill>
                  <a:srgbClr val="6B7A93"/>
                </a:solidFill>
                <a:latin typeface="Arial"/>
              </a:rPr>
              <a:t>Bitemporal model: every fact carries valid_from / valid_to / observed_at / source — that's what makes “what did this look like at time t?” possible.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760720" y="1783080"/>
            <a:ext cx="5879592" cy="4297680"/>
          </a:xfrm>
          <a:prstGeom prst="roundRect">
            <a:avLst>
              <a:gd name="adj" fmla="val 6000"/>
            </a:avLst>
          </a:prstGeom>
          <a:solidFill>
            <a:srgbClr val="121722"/>
          </a:solidFill>
          <a:ln w="19050">
            <a:solidFill>
              <a:srgbClr val="2A35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760720" y="3291840"/>
            <a:ext cx="5879592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600" b="0" i="0">
                <a:solidFill>
                  <a:srgbClr val="9FB0C8"/>
                </a:solidFill>
                <a:latin typeface="Arial"/>
              </a:rPr>
              <a:t>🖼️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9FB0C8"/>
                </a:solidFill>
                <a:latin typeface="Arial"/>
              </a:rPr>
              <a:t>[ Demo screenshot goes here ]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6B7A93"/>
                </a:solidFill>
                <a:latin typeface="Arial"/>
              </a:rPr>
              <a:t>Dashboard with the time slider + animated knowledge graph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6B7A93"/>
                </a:solidFill>
                <a:latin typeface="Arial"/>
              </a:rPr>
              <a:t>Replace this box with a PNG of /account/spirit.com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9FB0C8"/>
                </a:solidFill>
                <a:latin typeface="Arial"/>
              </a:rPr>
              <a:t>VANTAGE</a:t>
            </a:r>
            <a:r>
              <a:rPr sz="1000" b="0" i="0">
                <a:solidFill>
                  <a:srgbClr val="6B7A93"/>
                </a:solidFill>
                <a:latin typeface="Arial"/>
              </a:rPr>
              <a:t>  ·  Team Sentinels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0" y="644652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6B7A93"/>
                </a:solidFill>
                <a:latin typeface="Arial"/>
              </a:rPr>
              <a:t>03 / 06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48640" y="539496"/>
            <a:ext cx="91440" cy="91440"/>
          </a:xfrm>
          <a:prstGeom prst="ellipse">
            <a:avLst/>
          </a:prstGeom>
          <a:solidFill>
            <a:srgbClr val="4F9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572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4F9DFF"/>
                </a:solidFill>
                <a:latin typeface="Arial"/>
              </a:rPr>
              <a:t>WHY IT'S DIFFERENT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77240"/>
            <a:ext cx="113385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100" b="1" i="0">
                <a:solidFill>
                  <a:srgbClr val="E8EDF6"/>
                </a:solidFill>
                <a:latin typeface="Arial"/>
              </a:rPr>
              <a:t>Nobody treats the open web as a time-aware database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41732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1">
                <a:solidFill>
                  <a:srgbClr val="9FB0C8"/>
                </a:solidFill>
                <a:latin typeface="Arial"/>
              </a:rPr>
              <a:t>Incumbents read internal data rooms &amp; pre-timestamped filings. We turn the messy public web into a queryable timeline.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148840"/>
            <a:ext cx="5440680" cy="1508760"/>
          </a:xfrm>
          <a:prstGeom prst="roundRect">
            <a:avLst>
              <a:gd name="adj" fmla="val 6000"/>
            </a:avLst>
          </a:prstGeom>
          <a:solidFill>
            <a:srgbClr val="161C29"/>
          </a:solidFill>
          <a:ln w="12700">
            <a:solidFill>
              <a:srgbClr val="2A35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2331720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E8EDF6"/>
                </a:solidFill>
                <a:latin typeface="Arial"/>
              </a:rPr>
              <a:t>🗂️  Hebbia · Rogo · AlphaSense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2788920"/>
            <a:ext cx="5029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9FB0C8"/>
                </a:solidFill>
                <a:latin typeface="Arial"/>
              </a:rPr>
              <a:t>Operate on internal data rooms and already-timestamped SEC filings. They answer “what's in these documents?” — and the open web stays invisible.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9632" y="2148840"/>
            <a:ext cx="5440680" cy="1508760"/>
          </a:xfrm>
          <a:prstGeom prst="roundRect">
            <a:avLst>
              <a:gd name="adj" fmla="val 6000"/>
            </a:avLst>
          </a:prstGeom>
          <a:solidFill>
            <a:srgbClr val="161C29"/>
          </a:solidFill>
          <a:ln w="19050">
            <a:solidFill>
              <a:srgbClr val="4F9D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55664" y="2331720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E8EDF6"/>
                </a:solidFill>
                <a:latin typeface="Arial"/>
              </a:rPr>
              <a:t>⏳  Vantage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55664" y="2788920"/>
            <a:ext cx="5029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9FB0C8"/>
                </a:solidFill>
                <a:latin typeface="Arial"/>
              </a:rPr>
              <a:t>Structures the live public web into a bitemporal graph you can scrub through time. We answer </a:t>
            </a:r>
            <a:r>
              <a:rPr sz="1300" b="1" i="0">
                <a:solidFill>
                  <a:srgbClr val="E8EDF6"/>
                </a:solidFill>
                <a:latin typeface="Arial"/>
              </a:rPr>
              <a:t>“how did this company change, and when?”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886200"/>
            <a:ext cx="11091672" cy="2240280"/>
          </a:xfrm>
          <a:prstGeom prst="roundRect">
            <a:avLst>
              <a:gd name="adj" fmla="val 6000"/>
            </a:avLst>
          </a:prstGeom>
          <a:solidFill>
            <a:srgbClr val="161C29"/>
          </a:solidFill>
          <a:ln w="12700">
            <a:solidFill>
              <a:srgbClr val="2A35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40690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E8EDF6"/>
                </a:solidFill>
                <a:latin typeface="Arial"/>
              </a:rPr>
              <a:t>⏱️  The time dimension is the moat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572000"/>
            <a:ext cx="1051560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350" b="1">
                <a:solidFill>
                  <a:srgbClr val="4F9DFF"/>
                </a:solidFill>
                <a:latin typeface="Arial"/>
              </a:rPr>
              <a:t>▸ </a:t>
            </a:r>
            <a:r>
              <a:rPr sz="1350" b="1">
                <a:solidFill>
                  <a:srgbClr val="E8EDF6"/>
                </a:solidFill>
                <a:latin typeface="Arial"/>
              </a:rPr>
              <a:t>Trajectory &gt; snapshot</a:t>
            </a:r>
            <a:r>
              <a:rPr sz="1350" b="0">
                <a:solidFill>
                  <a:srgbClr val="9FB0C8"/>
                </a:solidFill>
                <a:latin typeface="Arial"/>
              </a:rPr>
              <a:t> — two senior exits in 90 days is a distress signal a single snapshot can't see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350" b="1">
                <a:solidFill>
                  <a:srgbClr val="4F9DFF"/>
                </a:solidFill>
                <a:latin typeface="Arial"/>
              </a:rPr>
              <a:t>▸ </a:t>
            </a:r>
            <a:r>
              <a:rPr sz="1350" b="1">
                <a:solidFill>
                  <a:srgbClr val="E8EDF6"/>
                </a:solidFill>
                <a:latin typeface="Arial"/>
              </a:rPr>
              <a:t>Lead/lag patterns</a:t>
            </a:r>
            <a:r>
              <a:rPr sz="1350" b="0">
                <a:solidFill>
                  <a:srgbClr val="9FB0C8"/>
                </a:solidFill>
                <a:latin typeface="Arial"/>
              </a:rPr>
              <a:t> — a CMO departure often precedes a sentiment dip ~45 days later; we make that visible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350" b="1">
                <a:solidFill>
                  <a:srgbClr val="4F9DFF"/>
                </a:solidFill>
                <a:latin typeface="Arial"/>
              </a:rPr>
              <a:t>▸ </a:t>
            </a:r>
            <a:r>
              <a:rPr sz="1350" b="1">
                <a:solidFill>
                  <a:srgbClr val="E8EDF6"/>
                </a:solidFill>
                <a:latin typeface="Arial"/>
              </a:rPr>
              <a:t>Replayable history</a:t>
            </a:r>
            <a:r>
              <a:rPr sz="1350" b="0">
                <a:solidFill>
                  <a:srgbClr val="9FB0C8"/>
                </a:solidFill>
                <a:latin typeface="Arial"/>
              </a:rPr>
              <a:t> — drag back and watch Glassdoor stars climb, hiring expand, then the collapse animate forward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350" b="1">
                <a:solidFill>
                  <a:srgbClr val="4F9DFF"/>
                </a:solidFill>
                <a:latin typeface="Arial"/>
              </a:rPr>
              <a:t>▸ </a:t>
            </a:r>
            <a:r>
              <a:rPr sz="1350" b="1">
                <a:solidFill>
                  <a:srgbClr val="E8EDF6"/>
                </a:solidFill>
                <a:latin typeface="Arial"/>
              </a:rPr>
              <a:t>Provenance over time</a:t>
            </a:r>
            <a:r>
              <a:rPr sz="1350" b="0">
                <a:solidFill>
                  <a:srgbClr val="9FB0C8"/>
                </a:solidFill>
                <a:latin typeface="Arial"/>
              </a:rPr>
              <a:t> — every edge knows when it became true and where it came from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9FB0C8"/>
                </a:solidFill>
                <a:latin typeface="Arial"/>
              </a:rPr>
              <a:t>VANTAGE</a:t>
            </a:r>
            <a:r>
              <a:rPr sz="1000" b="0" i="0">
                <a:solidFill>
                  <a:srgbClr val="6B7A93"/>
                </a:solidFill>
                <a:latin typeface="Arial"/>
              </a:rPr>
              <a:t>  ·  Team Sentinels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241280" y="644652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6B7A93"/>
                </a:solidFill>
                <a:latin typeface="Arial"/>
              </a:rPr>
              <a:t>04 / 06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48640" y="539496"/>
            <a:ext cx="91440" cy="91440"/>
          </a:xfrm>
          <a:prstGeom prst="ellipse">
            <a:avLst/>
          </a:prstGeom>
          <a:solidFill>
            <a:srgbClr val="4F9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572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4F9DFF"/>
                </a:solidFill>
                <a:latin typeface="Arial"/>
              </a:rPr>
              <a:t>BUILT ON BRIGHT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77240"/>
            <a:ext cx="113385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E8EDF6"/>
                </a:solidFill>
                <a:latin typeface="Arial"/>
              </a:rPr>
              <a:t>Without Bright Data, this collapses to a static snapshot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08760"/>
            <a:ext cx="5440680" cy="1325880"/>
          </a:xfrm>
          <a:prstGeom prst="roundRect">
            <a:avLst>
              <a:gd name="adj" fmla="val 6000"/>
            </a:avLst>
          </a:prstGeom>
          <a:solidFill>
            <a:srgbClr val="161C29"/>
          </a:solidFill>
          <a:ln w="12700">
            <a:solidFill>
              <a:srgbClr val="2A35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6384" y="1655063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E8EDF6"/>
                </a:solidFill>
                <a:latin typeface="Arial"/>
              </a:rPr>
              <a:t>🔌  MCP over SSE</a:t>
            </a:r>
            <a:r>
              <a:rPr sz="1100" b="0" i="0">
                <a:solidFill>
                  <a:srgbClr val="4F9DFF"/>
                </a:solidFill>
                <a:latin typeface="Arial"/>
              </a:rPr>
              <a:t>   one interface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2075688"/>
            <a:ext cx="50292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9FB0C8"/>
                </a:solidFill>
                <a:latin typeface="Arial"/>
              </a:rPr>
              <a:t>A single orchestration layer across SERP, Web Scraper, Web Unlocker, Scraping Browser &amp; Datasets — fan-out ingest from one client.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9632" y="1508760"/>
            <a:ext cx="5440680" cy="1325880"/>
          </a:xfrm>
          <a:prstGeom prst="roundRect">
            <a:avLst>
              <a:gd name="adj" fmla="val 6000"/>
            </a:avLst>
          </a:prstGeom>
          <a:solidFill>
            <a:srgbClr val="161C29"/>
          </a:solidFill>
          <a:ln w="12700">
            <a:solidFill>
              <a:srgbClr val="2A35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37376" y="1655063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E8EDF6"/>
                </a:solidFill>
                <a:latin typeface="Arial"/>
              </a:rPr>
              <a:t>🛡️  Web Unlocker + residential proxies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37376" y="2075688"/>
            <a:ext cx="50292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9FB0C8"/>
                </a:solidFill>
                <a:latin typeface="Arial"/>
              </a:rPr>
              <a:t>Uninterrupted coverage of Glassdoor, LinkedIn &amp; G2 where DIY scrapers die within days. This is what keeps the pipeline alive.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971800"/>
            <a:ext cx="5440680" cy="1325880"/>
          </a:xfrm>
          <a:prstGeom prst="roundRect">
            <a:avLst>
              <a:gd name="adj" fmla="val 6000"/>
            </a:avLst>
          </a:prstGeom>
          <a:solidFill>
            <a:srgbClr val="161C29"/>
          </a:solidFill>
          <a:ln w="12700">
            <a:solidFill>
              <a:srgbClr val="2A35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" y="3118104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E8EDF6"/>
                </a:solidFill>
                <a:latin typeface="Arial"/>
              </a:rPr>
              <a:t>🔎  SERP API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" y="3538728"/>
            <a:ext cx="50292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9FB0C8"/>
                </a:solidFill>
                <a:latin typeface="Arial"/>
              </a:rPr>
              <a:t>News across NYT / FT / Business Journals, plus PACER litigation lookups — surfaced and placed on the timeline.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99632" y="2971800"/>
            <a:ext cx="5440680" cy="1325880"/>
          </a:xfrm>
          <a:prstGeom prst="roundRect">
            <a:avLst>
              <a:gd name="adj" fmla="val 6000"/>
            </a:avLst>
          </a:prstGeom>
          <a:solidFill>
            <a:srgbClr val="161C29"/>
          </a:solidFill>
          <a:ln w="12700">
            <a:solidFill>
              <a:srgbClr val="2A35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37376" y="3118104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E8EDF6"/>
                </a:solidFill>
                <a:latin typeface="Arial"/>
              </a:rPr>
              <a:t>📚  Datasets — historical backfill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37376" y="3538728"/>
            <a:ext cx="50292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9FB0C8"/>
                </a:solidFill>
                <a:latin typeface="Arial"/>
              </a:rPr>
              <a:t>Pre-built LinkedIn / Glassdoor / Crunchbase history backfills 90+ days on Day 1 — no waiting to accumulate signal.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526280"/>
            <a:ext cx="11091672" cy="1691640"/>
          </a:xfrm>
          <a:prstGeom prst="roundRect">
            <a:avLst>
              <a:gd name="adj" fmla="val 6000"/>
            </a:avLst>
          </a:prstGeom>
          <a:solidFill>
            <a:srgbClr val="161C29"/>
          </a:solidFill>
          <a:ln w="12700">
            <a:solidFill>
              <a:srgbClr val="2A35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4681728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E8EDF6"/>
                </a:solidFill>
                <a:latin typeface="Arial"/>
              </a:rPr>
              <a:t>🧩  Everything Vantage does with that data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120640"/>
            <a:ext cx="356616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1">
                <a:solidFill>
                  <a:srgbClr val="4F9DFF"/>
                </a:solidFill>
                <a:latin typeface="Arial"/>
              </a:rPr>
              <a:t>▸ </a:t>
            </a:r>
            <a:r>
              <a:rPr sz="1150" b="1">
                <a:solidFill>
                  <a:srgbClr val="E8EDF6"/>
                </a:solidFill>
                <a:latin typeface="Arial"/>
              </a:rPr>
              <a:t>Multi-source ingest</a:t>
            </a:r>
            <a:r>
              <a:rPr sz="1150" b="0">
                <a:solidFill>
                  <a:srgbClr val="9FB0C8"/>
                </a:solidFill>
                <a:latin typeface="Arial"/>
              </a:rPr>
              <a:t> across 6 source families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1">
                <a:solidFill>
                  <a:srgbClr val="4F9DFF"/>
                </a:solidFill>
                <a:latin typeface="Arial"/>
              </a:rPr>
              <a:t>▸ </a:t>
            </a:r>
            <a:r>
              <a:rPr sz="1150" b="1">
                <a:solidFill>
                  <a:srgbClr val="E8EDF6"/>
                </a:solidFill>
                <a:latin typeface="Arial"/>
              </a:rPr>
              <a:t>Claude tool-use extraction</a:t>
            </a:r>
            <a:r>
              <a:rPr sz="1150" b="0">
                <a:solidFill>
                  <a:srgbClr val="9FB0C8"/>
                </a:solidFill>
                <a:latin typeface="Arial"/>
              </a:rPr>
              <a:t> → entities + relations + events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1">
                <a:solidFill>
                  <a:srgbClr val="4F9DFF"/>
                </a:solidFill>
                <a:latin typeface="Arial"/>
              </a:rPr>
              <a:t>▸ </a:t>
            </a:r>
            <a:r>
              <a:rPr sz="1150" b="1">
                <a:solidFill>
                  <a:srgbClr val="E8EDF6"/>
                </a:solidFill>
                <a:latin typeface="Arial"/>
              </a:rPr>
              <a:t>Bitemporal graph</a:t>
            </a:r>
            <a:r>
              <a:rPr sz="1150" b="0">
                <a:solidFill>
                  <a:srgbClr val="9FB0C8"/>
                </a:solidFill>
                <a:latin typeface="Arial"/>
              </a:rPr>
              <a:t> (graphology) merge &amp; resolve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5120640"/>
            <a:ext cx="356616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1">
                <a:solidFill>
                  <a:srgbClr val="4F9DFF"/>
                </a:solidFill>
                <a:latin typeface="Arial"/>
              </a:rPr>
              <a:t>▸ </a:t>
            </a:r>
            <a:r>
              <a:rPr sz="1150" b="1">
                <a:solidFill>
                  <a:srgbClr val="E8EDF6"/>
                </a:solidFill>
                <a:latin typeface="Arial"/>
              </a:rPr>
              <a:t>Time slider + animated replay</a:t>
            </a:r>
            <a:r>
              <a:rPr sz="1150" b="0">
                <a:solidFill>
                  <a:srgbClr val="9FB0C8"/>
                </a:solidFill>
                <a:latin typeface="Arial"/>
              </a:rPr>
              <a:t> over the graph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1">
                <a:solidFill>
                  <a:srgbClr val="4F9DFF"/>
                </a:solidFill>
                <a:latin typeface="Arial"/>
              </a:rPr>
              <a:t>▸ </a:t>
            </a:r>
            <a:r>
              <a:rPr sz="1150" b="1">
                <a:solidFill>
                  <a:srgbClr val="E8EDF6"/>
                </a:solidFill>
                <a:latin typeface="Arial"/>
              </a:rPr>
              <a:t>Red-flag detection</a:t>
            </a:r>
            <a:r>
              <a:rPr sz="1150" b="0">
                <a:solidFill>
                  <a:srgbClr val="9FB0C8"/>
                </a:solidFill>
                <a:latin typeface="Arial"/>
              </a:rPr>
              <a:t> across 6 risk dimensions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1">
                <a:solidFill>
                  <a:srgbClr val="4F9DFF"/>
                </a:solidFill>
                <a:latin typeface="Arial"/>
              </a:rPr>
              <a:t>▸ </a:t>
            </a:r>
            <a:r>
              <a:rPr sz="1150" b="1">
                <a:solidFill>
                  <a:srgbClr val="E8EDF6"/>
                </a:solidFill>
                <a:latin typeface="Arial"/>
              </a:rPr>
              <a:t>Δ Delta report</a:t>
            </a:r>
            <a:r>
              <a:rPr sz="1150" b="0">
                <a:solidFill>
                  <a:srgbClr val="9FB0C8"/>
                </a:solidFill>
                <a:latin typeface="Arial"/>
              </a:rPr>
              <a:t> — what changed between two dates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0" y="5120640"/>
            <a:ext cx="356616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1">
                <a:solidFill>
                  <a:srgbClr val="4F9DFF"/>
                </a:solidFill>
                <a:latin typeface="Arial"/>
              </a:rPr>
              <a:t>▸ </a:t>
            </a:r>
            <a:r>
              <a:rPr sz="1150" b="1">
                <a:solidFill>
                  <a:srgbClr val="E8EDF6"/>
                </a:solidFill>
                <a:latin typeface="Arial"/>
              </a:rPr>
              <a:t>Cited Q&amp;A</a:t>
            </a:r>
            <a:r>
              <a:rPr sz="1150" b="0">
                <a:solidFill>
                  <a:srgbClr val="9FB0C8"/>
                </a:solidFill>
                <a:latin typeface="Arial"/>
              </a:rPr>
              <a:t> — answers link back to source spans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1">
                <a:solidFill>
                  <a:srgbClr val="4F9DFF"/>
                </a:solidFill>
                <a:latin typeface="Arial"/>
              </a:rPr>
              <a:t>▸ </a:t>
            </a:r>
            <a:r>
              <a:rPr sz="1150" b="1">
                <a:solidFill>
                  <a:srgbClr val="E8EDF6"/>
                </a:solidFill>
                <a:latin typeface="Arial"/>
              </a:rPr>
              <a:t>Auto diligence memo</a:t>
            </a:r>
            <a:r>
              <a:rPr sz="1150" b="0">
                <a:solidFill>
                  <a:srgbClr val="9FB0C8"/>
                </a:solidFill>
                <a:latin typeface="Arial"/>
              </a:rPr>
              <a:t> + PDF export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1">
                <a:solidFill>
                  <a:srgbClr val="4F9DFF"/>
                </a:solidFill>
                <a:latin typeface="Arial"/>
              </a:rPr>
              <a:t>▸ </a:t>
            </a:r>
            <a:r>
              <a:rPr sz="1150" b="1">
                <a:solidFill>
                  <a:srgbClr val="E8EDF6"/>
                </a:solidFill>
                <a:latin typeface="Arial"/>
              </a:rPr>
              <a:t>Live usage metering</a:t>
            </a:r>
            <a:r>
              <a:rPr sz="1150" b="0">
                <a:solidFill>
                  <a:srgbClr val="9FB0C8"/>
                </a:solidFill>
                <a:latin typeface="Arial"/>
              </a:rPr>
              <a:t> + 6h disk cache for speed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9FB0C8"/>
                </a:solidFill>
                <a:latin typeface="Arial"/>
              </a:rPr>
              <a:t>VANTAGE</a:t>
            </a:r>
            <a:r>
              <a:rPr sz="1000" b="0" i="0">
                <a:solidFill>
                  <a:srgbClr val="6B7A93"/>
                </a:solidFill>
                <a:latin typeface="Arial"/>
              </a:rPr>
              <a:t>  ·  Team Sentinels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41280" y="644652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6B7A93"/>
                </a:solidFill>
                <a:latin typeface="Arial"/>
              </a:rPr>
              <a:t>05 / 06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48640" y="539496"/>
            <a:ext cx="91440" cy="91440"/>
          </a:xfrm>
          <a:prstGeom prst="ellipse">
            <a:avLst/>
          </a:prstGeom>
          <a:solidFill>
            <a:srgbClr val="4F9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572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4F9DFF"/>
                </a:solidFill>
                <a:latin typeface="Arial"/>
              </a:rPr>
              <a:t>SEE IT LIVE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7724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200" b="1" i="0">
                <a:solidFill>
                  <a:srgbClr val="E8EDF6"/>
                </a:solidFill>
                <a:latin typeface="Arial"/>
              </a:rPr>
              <a:t>Try Vantage in 10 seconds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41732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9FB0C8"/>
                </a:solidFill>
                <a:latin typeface="Arial"/>
              </a:rPr>
              <a:t>Three pre-cached targets load instantly through the real pipeline; any other domain is fetched live via Bright Data.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194560"/>
            <a:ext cx="5440680" cy="1143000"/>
          </a:xfrm>
          <a:prstGeom prst="roundRect">
            <a:avLst>
              <a:gd name="adj" fmla="val 6000"/>
            </a:avLst>
          </a:prstGeom>
          <a:solidFill>
            <a:srgbClr val="161C29"/>
          </a:solidFill>
          <a:ln w="12700">
            <a:solidFill>
              <a:srgbClr val="2A35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377440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 i="0">
                <a:solidFill>
                  <a:srgbClr val="6B7A93"/>
                </a:solidFill>
                <a:latin typeface="Arial"/>
              </a:rPr>
              <a:t>🎥  DEMO VIDEO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743200"/>
            <a:ext cx="4937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4F9DFF"/>
                </a:solidFill>
                <a:latin typeface="Arial"/>
              </a:rPr>
              <a:t>[ paste your demo video link here ]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520439"/>
            <a:ext cx="5440680" cy="1143000"/>
          </a:xfrm>
          <a:prstGeom prst="roundRect">
            <a:avLst>
              <a:gd name="adj" fmla="val 6000"/>
            </a:avLst>
          </a:prstGeom>
          <a:solidFill>
            <a:srgbClr val="161C29"/>
          </a:solidFill>
          <a:ln w="12700">
            <a:solidFill>
              <a:srgbClr val="2A35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3703320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 i="0">
                <a:solidFill>
                  <a:srgbClr val="6B7A93"/>
                </a:solidFill>
                <a:latin typeface="Arial"/>
              </a:rPr>
              <a:t>🚀  LIVE APP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069079"/>
            <a:ext cx="4937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4F9DFF"/>
                </a:solidFill>
                <a:latin typeface="Arial"/>
              </a:rPr>
              <a:t>[ paste your deployed URL here ]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846320"/>
            <a:ext cx="5440680" cy="1143000"/>
          </a:xfrm>
          <a:prstGeom prst="roundRect">
            <a:avLst>
              <a:gd name="adj" fmla="val 6000"/>
            </a:avLst>
          </a:prstGeom>
          <a:solidFill>
            <a:srgbClr val="161C29"/>
          </a:solidFill>
          <a:ln w="12700">
            <a:solidFill>
              <a:srgbClr val="2A35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5029200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 i="0">
                <a:solidFill>
                  <a:srgbClr val="6B7A93"/>
                </a:solidFill>
                <a:latin typeface="Arial"/>
              </a:rPr>
              <a:t>💻  GITHUB REPO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394959"/>
            <a:ext cx="4937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4F9DFF"/>
                </a:solidFill>
                <a:latin typeface="Arial"/>
              </a:rPr>
              <a:t>[ paste your repo link here ]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99632" y="2194560"/>
            <a:ext cx="5440680" cy="3703320"/>
          </a:xfrm>
          <a:prstGeom prst="roundRect">
            <a:avLst>
              <a:gd name="adj" fmla="val 6000"/>
            </a:avLst>
          </a:prstGeom>
          <a:solidFill>
            <a:srgbClr val="161C29"/>
          </a:solidFill>
          <a:ln w="12700">
            <a:solidFill>
              <a:srgbClr val="2A35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55664" y="2377440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E8EDF6"/>
                </a:solidFill>
                <a:latin typeface="Arial"/>
              </a:rPr>
              <a:t>✓  What the judges will see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55664" y="2926080"/>
            <a:ext cx="502920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>
                <a:solidFill>
                  <a:srgbClr val="36D399"/>
                </a:solidFill>
                <a:latin typeface="Arial"/>
              </a:rPr>
              <a:t>✓ </a:t>
            </a:r>
            <a:r>
              <a:rPr sz="1400" b="0">
                <a:solidFill>
                  <a:srgbClr val="9FB0C8"/>
                </a:solidFill>
                <a:latin typeface="Arial"/>
              </a:rPr>
              <a:t>Drag the slider — the graph mutates across 180 days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>
                <a:solidFill>
                  <a:srgbClr val="36D399"/>
                </a:solidFill>
                <a:latin typeface="Arial"/>
              </a:rPr>
              <a:t>✓ </a:t>
            </a:r>
            <a:r>
              <a:rPr sz="1400" b="0">
                <a:solidFill>
                  <a:srgbClr val="9FB0C8"/>
                </a:solidFill>
                <a:latin typeface="Arial"/>
              </a:rPr>
              <a:t>Hit play — a company's story animates week by week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>
                <a:solidFill>
                  <a:srgbClr val="36D399"/>
                </a:solidFill>
                <a:latin typeface="Arial"/>
              </a:rPr>
              <a:t>✓ </a:t>
            </a:r>
            <a:r>
              <a:rPr sz="1400" b="0">
                <a:solidFill>
                  <a:srgbClr val="9FB0C8"/>
                </a:solidFill>
                <a:latin typeface="Arial"/>
              </a:rPr>
              <a:t>Click any node — the exact scraped quote + source URL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>
                <a:solidFill>
                  <a:srgbClr val="36D399"/>
                </a:solidFill>
                <a:latin typeface="Arial"/>
              </a:rPr>
              <a:t>✓ </a:t>
            </a:r>
            <a:r>
              <a:rPr sz="1400" b="0">
                <a:solidFill>
                  <a:srgbClr val="9FB0C8"/>
                </a:solidFill>
                <a:latin typeface="Arial"/>
              </a:rPr>
              <a:t>Open the memo — cited risk narrative, export to PDF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55664" y="525780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E8EDF6"/>
                </a:solidFill>
                <a:latin typeface="Arial"/>
              </a:rPr>
              <a:t>Team Sentinels</a:t>
            </a:r>
            <a:r>
              <a:rPr sz="1400" b="0" i="0">
                <a:solidFill>
                  <a:srgbClr val="9FB0C8"/>
                </a:solidFill>
                <a:latin typeface="Arial"/>
              </a:rPr>
              <a:t>  ·  Track 2  ·  Web Data Unlocked Hackathon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9FB0C8"/>
                </a:solidFill>
                <a:latin typeface="Arial"/>
              </a:rPr>
              <a:t>VANTAGE</a:t>
            </a:r>
            <a:r>
              <a:rPr sz="1000" b="0" i="0">
                <a:solidFill>
                  <a:srgbClr val="6B7A93"/>
                </a:solidFill>
                <a:latin typeface="Arial"/>
              </a:rPr>
              <a:t>  ·  Team Sentinels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41280" y="644652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6B7A93"/>
                </a:solidFill>
                <a:latin typeface="Arial"/>
              </a:rPr>
              <a:t>06 / 06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